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110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8584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7A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placeholder</a:t>
            </a:r>
            <a:endParaRPr lang="en-US" sz="42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3794760"/>
            <a:ext cx="67665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i="1" dirty="0">
                <a:solidFill>
                  <a:srgbClr val="F4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i="1" dirty="0">
                <a:solidFill>
                  <a:srgbClr val="F4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placeholder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7A1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22960" y="338328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title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3D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Control Room  |  NMIMS</a:t>
            </a:r>
            <a:endParaRPr lang="en-US" sz="95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placeholder</a:t>
            </a: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822960" y="1554480"/>
            <a:ext cx="10543032" cy="4709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placeholder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REE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419088"/>
            <a:ext cx="10543032" cy="0"/>
          </a:xfrm>
          <a:prstGeom prst="line">
            <a:avLst/>
          </a:prstGeom>
          <a:noFill/>
          <a:ln w="9525">
            <a:solidFill>
              <a:srgbClr val="E3D7C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52881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Control Room  |  NMIMS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2296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150" dirty="0"/>
          </a:p>
        </p:txBody>
      </p:sp>
      <p:sp>
        <p:nvSpPr>
          <p:cNvPr id="5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676656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5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 algn="l">
              <a:buNone/>
            </a:pPr>
            <a:r>
              <a:rPr lang="en-US" sz="25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placeholder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33791" y="987552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Control Room</a:t>
            </a:r>
            <a:endParaRPr lang="en-US" sz="4200" dirty="0"/>
          </a:p>
        </p:txBody>
      </p:sp>
      <p:sp>
        <p:nvSpPr>
          <p:cNvPr id="6" name="Text 0"/>
          <p:cNvSpPr>
            <a:spLocks noGrp="1"/>
          </p:cNvSpPr>
          <p:nvPr>
            <p:ph type="body" idx="101" hasCustomPrompt="1"/>
          </p:nvPr>
        </p:nvSpPr>
        <p:spPr>
          <a:xfrm>
            <a:off x="533791" y="2395728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F4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multi-event check-in, kit distribution &amp; payment verification platform, built on Nextcloud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55280" y="1417320"/>
            <a:ext cx="3429000" cy="4846320"/>
          </a:xfrm>
          <a:prstGeom prst="roundRect">
            <a:avLst>
              <a:gd name="adj" fmla="val 2133"/>
            </a:avLst>
          </a:prstGeom>
          <a:solidFill>
            <a:srgbClr val="6B1028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8183880" y="16276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83880" y="2057400"/>
            <a:ext cx="420624" cy="42062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8388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732520" y="2084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Harikrishna Panchal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732520" y="2350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B332,70022200505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83880" y="2926080"/>
            <a:ext cx="420624" cy="42062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732520" y="2953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Naman Naik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732520" y="32186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B355,70022200547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83880" y="3794760"/>
            <a:ext cx="420624" cy="42062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183880" y="3794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732520" y="38221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Kanishk Sahay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40873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B360,70022200556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4800600"/>
            <a:ext cx="2971800" cy="0"/>
          </a:xfrm>
          <a:prstGeom prst="line">
            <a:avLst/>
          </a:prstGeom>
          <a:noFill/>
          <a:ln w="12700">
            <a:solidFill>
              <a:srgbClr val="9C3A5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83880" y="5715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5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475488" cy="475488"/>
          </a:xfrm>
          <a:prstGeom prst="ellipse">
            <a:avLst/>
          </a:prstGeom>
          <a:solidFill>
            <a:srgbClr val="7A14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44752" y="180136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475488" cy="475488"/>
          </a:xfrm>
          <a:prstGeom prst="ellipse">
            <a:avLst/>
          </a:prstGeom>
          <a:solidFill>
            <a:srgbClr val="7A143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44752" y="267004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475488" cy="475488"/>
          </a:xfrm>
          <a:prstGeom prst="ellipse">
            <a:avLst/>
          </a:prstGeom>
          <a:solidFill>
            <a:srgbClr val="7A14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44752" y="353872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Key Features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22960" y="4389120"/>
            <a:ext cx="475488" cy="475488"/>
          </a:xfrm>
          <a:prstGeom prst="ellipse">
            <a:avLst/>
          </a:prstGeom>
          <a:solidFill>
            <a:srgbClr val="7A14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444752" y="440740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" y="5257800"/>
            <a:ext cx="475488" cy="475488"/>
          </a:xfrm>
          <a:prstGeom prst="ellipse">
            <a:avLst/>
          </a:prstGeom>
          <a:solidFill>
            <a:srgbClr val="7A143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5257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44752" y="527608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263640" y="1783080"/>
            <a:ext cx="475488" cy="47548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6364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85432" y="180136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 on Nextcloud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63640" y="2651760"/>
            <a:ext cx="475488" cy="47548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26517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85432" y="267004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263640" y="3520440"/>
            <a:ext cx="475488" cy="47548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6364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353872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263640" y="4389120"/>
            <a:ext cx="475488" cy="47548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263640" y="43891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6885432" y="440740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Reliability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263640" y="5257800"/>
            <a:ext cx="475488" cy="475488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5257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885432" y="5276088"/>
            <a:ext cx="4498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4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5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Running Campus Events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60020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fests like Desi Kalakar run on spreadsheets, WhatsApp forwards and a volunteer's memory. Registrations, kit stock, and UPI payment screenshots live in different places, so the desk on event day cannot answer a simple question in real time: has this person paid, and have they collected their kit?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6309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sheets, forms and payment proofs drift out of sync between volunteers.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desk view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and kit handout can't be verified against payment status on the spot.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rebuilds the wheel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fest hacks together a new sheet, a new form, a new ad-hoc process.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52360" y="1600200"/>
            <a:ext cx="3913632" cy="4663440"/>
          </a:xfrm>
          <a:prstGeom prst="roundRect">
            <a:avLst>
              <a:gd name="adj" fmla="val 1869"/>
            </a:avLst>
          </a:prstGeom>
          <a:solidFill>
            <a:srgbClr val="F4E9DD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2668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26680" y="2194560"/>
            <a:ext cx="3383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■"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check-in queues on event day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■"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fraudulent kit claims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■"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 cash &amp; UPI collections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■"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for organisers across events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15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A1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42316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live dashboard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78892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organisers one real-time view of registrations, check-ins, kits and payments per event.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25696" y="164592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6864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6864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42316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Multi-event, multi-role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78892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one deployment run many fests, each with its own admins and volunteers.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28432" y="164592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47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E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42316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extra database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78892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Nextcloud itself — files, WebDAV and users — as the only datastore.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88620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4128" y="4087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4128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6634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Self-serve registration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50292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organisers build and publish a custom public form per event in minutes.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25696" y="388620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4087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46634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Trustworthy state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50292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lost updates when many volunteers check people in at once.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28432" y="3886200"/>
            <a:ext cx="336499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40873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A403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663440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Walk-in friendly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5029200"/>
            <a:ext cx="29626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on-the-spot registration and cash collection at the desk.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5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00200"/>
            <a:ext cx="73152" cy="1481328"/>
          </a:xfrm>
          <a:prstGeom prst="rect">
            <a:avLst/>
          </a:prstGeom>
          <a:solidFill>
            <a:srgbClr val="7A1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0704" y="174650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Multi-event workspace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60704" y="2112264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unlimited events from one login; switch between them from an event picker.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25696" y="1600200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25696" y="1600200"/>
            <a:ext cx="73152" cy="14813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74650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Control Room dashboard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12264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Registrations, check-ins, kit stock and revenue update in real time.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28432" y="1600200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28432" y="1600200"/>
            <a:ext cx="73152" cy="1481328"/>
          </a:xfrm>
          <a:prstGeom prst="rect">
            <a:avLst/>
          </a:prstGeom>
          <a:solidFill>
            <a:srgbClr val="3E6B4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66176" y="1746504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 desk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66176" y="2112264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phone or email and mark attendance in one tap.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264408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264408"/>
            <a:ext cx="73152" cy="148132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60704" y="341071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 manager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60704" y="3776472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kit types &amp; prices per event; track distribution against stock.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25696" y="3264408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25696" y="3264408"/>
            <a:ext cx="73152" cy="148132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63440" y="341071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verification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663440" y="3776472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UPI/cash payments verified, pending or flagged with proof uploads.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28432" y="3264408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28432" y="3264408"/>
            <a:ext cx="73152" cy="1481328"/>
          </a:xfrm>
          <a:prstGeom prst="rect">
            <a:avLst/>
          </a:prstGeom>
          <a:solidFill>
            <a:srgbClr val="4A403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66176" y="341071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tracking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66176" y="3776472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Auto-flags ambiguous kit selections and lets admins resolve manual issues.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" y="4928616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" y="4928616"/>
            <a:ext cx="73152" cy="148132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60704" y="50749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smart insights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60704" y="544068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participation, attendance and revenue summaries.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425696" y="4928616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25696" y="4928616"/>
            <a:ext cx="73152" cy="148132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63440" y="50749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builder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663440" y="544068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custom public registration form and share it as a link — no login needed.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28432" y="4928616"/>
            <a:ext cx="336499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28432" y="4928616"/>
            <a:ext cx="73152" cy="1481328"/>
          </a:xfrm>
          <a:prstGeom prst="rect">
            <a:avLst/>
          </a:prstGeom>
          <a:solidFill>
            <a:srgbClr val="7A143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66176" y="5074920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team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66176" y="5440680"/>
            <a:ext cx="29443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Per-event Admin / Volunteer roles backed by Nextcloud groups.</a:t>
            </a:r>
            <a:endParaRPr lang="en-US" sz="10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984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containers on Docker Compose. Nextcloud is the only datastore — no separate application database.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4A4036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874520"/>
            <a:ext cx="1554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/ Admin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2286000"/>
            <a:ext cx="411480" cy="0"/>
          </a:xfrm>
          <a:prstGeom prst="line">
            <a:avLst/>
          </a:prstGeom>
          <a:noFill/>
          <a:ln w="22225">
            <a:solidFill>
              <a:srgbClr val="4A403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87452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D4A017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63240" y="1874520"/>
            <a:ext cx="1645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7A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7A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nginx :8081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2286000"/>
            <a:ext cx="411480" cy="0"/>
          </a:xfrm>
          <a:prstGeom prst="line">
            <a:avLst/>
          </a:prstGeom>
          <a:noFill/>
          <a:ln w="22225">
            <a:solidFill>
              <a:srgbClr val="4A403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18745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7A1430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303520" y="1874520"/>
            <a:ext cx="17830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/ Express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78040" y="2286000"/>
            <a:ext cx="411480" cy="0"/>
          </a:xfrm>
          <a:prstGeom prst="line">
            <a:avLst/>
          </a:prstGeom>
          <a:noFill/>
          <a:ln w="22225">
            <a:solidFill>
              <a:srgbClr val="4A403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187452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2F3C7E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680960" y="1874520"/>
            <a:ext cx="17830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nextcloud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WebDAV + OCS API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567928" y="2697480"/>
            <a:ext cx="0" cy="594360"/>
          </a:xfrm>
          <a:prstGeom prst="line">
            <a:avLst/>
          </a:prstGeom>
          <a:noFill/>
          <a:ln w="22225">
            <a:solidFill>
              <a:srgbClr val="4A403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9480" y="32918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60920" y="3291840"/>
            <a:ext cx="14173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store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32918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0" y="3291840"/>
            <a:ext cx="14173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locking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567928" y="3630168"/>
            <a:ext cx="758952" cy="0"/>
          </a:xfrm>
          <a:prstGeom prst="line">
            <a:avLst/>
          </a:prstGeom>
          <a:noFill/>
          <a:ln w="15875">
            <a:solidFill>
              <a:srgbClr val="4A403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834640" y="1691640"/>
            <a:ext cx="8138160" cy="2606040"/>
          </a:xfrm>
          <a:prstGeom prst="rect">
            <a:avLst/>
          </a:prstGeom>
          <a:ln w="15875">
            <a:solidFill>
              <a:srgbClr val="6E7B8B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2834640" y="14630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2971800"/>
            <a:ext cx="1828800" cy="2377440"/>
          </a:xfrm>
          <a:prstGeom prst="roundRect">
            <a:avLst>
              <a:gd name="adj" fmla="val 4000"/>
            </a:avLst>
          </a:prstGeom>
          <a:solidFill>
            <a:srgbClr val="F4E9DD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60120" y="31272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 DB?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3438144"/>
            <a:ext cx="1554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event, registration and state record is a JSON file in Nextcloud, guarded by ETag optimistic locking.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834640" y="45537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6E7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RESPONSIBILITIES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834640" y="4864608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7A143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834640" y="48646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&amp; role checks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32120" y="4864608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9C3A5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532120" y="48646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 import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834640" y="5367528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7A143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834640" y="53675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detection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532120" y="5367528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9C3A5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532120" y="536752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 (proofs)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834640" y="6053328"/>
            <a:ext cx="201168" cy="201168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108960" y="6016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37760" y="6053328"/>
            <a:ext cx="201168" cy="201168"/>
          </a:xfrm>
          <a:prstGeom prst="rect">
            <a:avLst/>
          </a:prstGeom>
          <a:solidFill>
            <a:srgbClr val="7A143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212080" y="6016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040880" y="6053328"/>
            <a:ext cx="201168" cy="201168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315200" y="6016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storage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9144000" y="6053328"/>
            <a:ext cx="201168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418320" y="6016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services</a:t>
            </a:r>
            <a:endParaRPr lang="en-US" sz="950" dirty="0"/>
          </a:p>
        </p:txBody>
      </p:sp>
      <p:sp>
        <p:nvSpPr>
          <p:cNvPr id="44" name="Text 2"/>
          <p:cNvSpPr>
            <a:spLocks noGrp="1"/>
          </p:cNvSpPr>
          <p:nvPr>
            <p:ph type="body" idx="103" hasCustomPrompt="1"/>
          </p:nvPr>
        </p:nvSpPr>
        <p:spPr>
          <a:xfrm>
            <a:off x="822960" y="1554480"/>
            <a:ext cx="10543032" cy="4709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5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649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56232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80160" y="185623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22199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18, Vite, lucide-react icons — single-page app driven entirely by /api/*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25696" y="1691640"/>
            <a:ext cx="33649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08576" y="1856232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7A1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82896" y="185623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82896" y="222199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Express, JWT auth, Multer file uploads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28432" y="1691640"/>
            <a:ext cx="33649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11312" y="1856232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85632" y="185623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Datastore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85632" y="222199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Nextcloud (WebDAV + OCS API) — files &amp; users, no separate DB for app data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337560"/>
            <a:ext cx="33649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3502152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3E6B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80160" y="35021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86791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MariaDB + Redis (for Nextcloud), 4 services total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25696" y="3337560"/>
            <a:ext cx="33649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08576" y="3502152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82896" y="35021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import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82896" y="386791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 parsing for bulk registration sheets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28432" y="3337560"/>
            <a:ext cx="3364992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11312" y="3502152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4A403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85632" y="3502152"/>
            <a:ext cx="2724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485632" y="3867912"/>
            <a:ext cx="27249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test runner — backend/test/*.test.js for API &amp; forms</a:t>
            </a:r>
            <a:endParaRPr lang="en-US" sz="10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5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Nextcloud as the Only Datastore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backend's service account owns one folder tree. Every entity is a JSON file; no application database exists.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74320" cy="457200"/>
          </a:xfrm>
          <a:prstGeom prst="roundRect">
            <a:avLst>
              <a:gd name="adj" fmla="val 26667"/>
            </a:avLst>
          </a:prstGeom>
          <a:solidFill>
            <a:srgbClr val="7A1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745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8928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/EventManagement/events.json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1305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of all events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069848" y="2423160"/>
            <a:ext cx="0" cy="338328"/>
          </a:xfrm>
          <a:prstGeom prst="line">
            <a:avLst/>
          </a:prstGeom>
          <a:noFill/>
          <a:ln w="15875">
            <a:solidFill>
              <a:srgbClr val="D8C7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" y="2761488"/>
            <a:ext cx="256032" cy="0"/>
          </a:xfrm>
          <a:prstGeom prst="line">
            <a:avLst/>
          </a:prstGeom>
          <a:noFill/>
          <a:ln w="15875">
            <a:solidFill>
              <a:srgbClr val="D8C7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25880" y="2532888"/>
            <a:ext cx="274320" cy="457200"/>
          </a:xfrm>
          <a:prstGeom prst="roundRect">
            <a:avLst>
              <a:gd name="adj" fmla="val 26667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253288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709928" y="255117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/&lt;slug&gt;/config.json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709928" y="278892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branding, kit types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69848" y="3081528"/>
            <a:ext cx="0" cy="338328"/>
          </a:xfrm>
          <a:prstGeom prst="line">
            <a:avLst/>
          </a:prstGeom>
          <a:noFill/>
          <a:ln w="15875">
            <a:solidFill>
              <a:srgbClr val="D8C7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" y="3419856"/>
            <a:ext cx="256032" cy="0"/>
          </a:xfrm>
          <a:prstGeom prst="line">
            <a:avLst/>
          </a:prstGeom>
          <a:noFill/>
          <a:ln w="15875">
            <a:solidFill>
              <a:srgbClr val="D8C7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25880" y="3191256"/>
            <a:ext cx="274320" cy="457200"/>
          </a:xfrm>
          <a:prstGeom prst="roundRect">
            <a:avLst>
              <a:gd name="adj" fmla="val 26667"/>
            </a:avLst>
          </a:prstGeom>
          <a:solidFill>
            <a:srgbClr val="2F3C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325880" y="3191256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709928" y="32095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/&lt;slug&gt;/registrations/&lt;regId&gt;.json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709928" y="34472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file per registration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69848" y="3739896"/>
            <a:ext cx="0" cy="338328"/>
          </a:xfrm>
          <a:prstGeom prst="line">
            <a:avLst/>
          </a:prstGeom>
          <a:noFill/>
          <a:ln w="15875">
            <a:solidFill>
              <a:srgbClr val="D8C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" y="4078224"/>
            <a:ext cx="256032" cy="0"/>
          </a:xfrm>
          <a:prstGeom prst="line">
            <a:avLst/>
          </a:prstGeom>
          <a:noFill/>
          <a:ln w="15875">
            <a:solidFill>
              <a:srgbClr val="D8C7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5880" y="3849624"/>
            <a:ext cx="274320" cy="457200"/>
          </a:xfrm>
          <a:prstGeom prst="roundRect">
            <a:avLst>
              <a:gd name="adj" fmla="val 26667"/>
            </a:avLst>
          </a:prstGeom>
          <a:solidFill>
            <a:srgbClr val="3E6B4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325880" y="384962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709928" y="386791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/&lt;slug&gt;/state/&lt;regId&gt;.json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709928" y="410565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kit / payment state — ETag-locked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69848" y="4398264"/>
            <a:ext cx="0" cy="338328"/>
          </a:xfrm>
          <a:prstGeom prst="line">
            <a:avLst/>
          </a:prstGeom>
          <a:noFill/>
          <a:ln w="15875">
            <a:solidFill>
              <a:srgbClr val="D8C7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69848" y="4736592"/>
            <a:ext cx="256032" cy="0"/>
          </a:xfrm>
          <a:prstGeom prst="line">
            <a:avLst/>
          </a:prstGeom>
          <a:noFill/>
          <a:ln w="15875">
            <a:solidFill>
              <a:srgbClr val="D8C7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5880" y="4507992"/>
            <a:ext cx="274320" cy="457200"/>
          </a:xfrm>
          <a:prstGeom prst="roundRect">
            <a:avLst>
              <a:gd name="adj" fmla="val 26667"/>
            </a:avLst>
          </a:prstGeom>
          <a:solidFill>
            <a:srgbClr val="B8504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325880" y="45079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709928" y="4526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/&lt;slug&gt;/uploads/&lt;regId&gt;/&lt;file&gt;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709928" y="476402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proof screenshots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069848" y="5056632"/>
            <a:ext cx="0" cy="338328"/>
          </a:xfrm>
          <a:prstGeom prst="line">
            <a:avLst/>
          </a:prstGeom>
          <a:noFill/>
          <a:ln w="15875">
            <a:solidFill>
              <a:srgbClr val="D8C7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69848" y="5394960"/>
            <a:ext cx="256032" cy="0"/>
          </a:xfrm>
          <a:prstGeom prst="line">
            <a:avLst/>
          </a:prstGeom>
          <a:noFill/>
          <a:ln w="15875">
            <a:solidFill>
              <a:srgbClr val="D8C7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325880" y="5166360"/>
            <a:ext cx="274320" cy="457200"/>
          </a:xfrm>
          <a:prstGeom prst="roundRect">
            <a:avLst>
              <a:gd name="adj" fmla="val 26667"/>
            </a:avLst>
          </a:prstGeom>
          <a:solidFill>
            <a:srgbClr val="D4A01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1325880" y="5166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📁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709928" y="5184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/&lt;slug&gt;/imports/&lt;timestamp&gt;-&lt;file&gt;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709928" y="542239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CSV / XLSX uploads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00800" y="1828800"/>
            <a:ext cx="4965192" cy="4480560"/>
          </a:xfrm>
          <a:prstGeom prst="roundRect">
            <a:avLst>
              <a:gd name="adj" fmla="val 1633"/>
            </a:avLst>
          </a:prstGeom>
          <a:solidFill>
            <a:srgbClr val="F4E9DD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675120" y="2057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CONCURRENCY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675120" y="23774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volunteers can check people in at the same instant. Every state write uses WebDAV's ETag as an If-Match header — a classic read–modify–write loop: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675120" y="3383280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6751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178040" y="340156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state/&lt;regId&gt;.json + its ETag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675120" y="4005072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675120" y="40050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178040" y="40233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change in memory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675120" y="4626864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67512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178040" y="46451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back with If-Match: &lt;ETag&gt;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675120" y="5248656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675120" y="5248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7178040" y="526694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412 Conflict, retry with backoff (up to 6x)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675120" y="5897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lost updates, even with a full volunteer desk hammering the same registration.</a:t>
            </a:r>
            <a:endParaRPr lang="en-US" sz="10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115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280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is decided by Nextcloud group membership, not by file sharing — two groups are created per event.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754880" y="210312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7A1430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84632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Nextcloud User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once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20640" y="2788920"/>
            <a:ext cx="0" cy="182880"/>
          </a:xfrm>
          <a:prstGeom prst="line">
            <a:avLst/>
          </a:prstGeom>
          <a:noFill/>
          <a:ln w="22225">
            <a:solidFill>
              <a:srgbClr val="4A403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086600" y="2788920"/>
            <a:ext cx="0" cy="182880"/>
          </a:xfrm>
          <a:prstGeom prst="line">
            <a:avLst/>
          </a:prstGeom>
          <a:noFill/>
          <a:ln w="22225">
            <a:solidFill>
              <a:srgbClr val="4A403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280160" y="29718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37160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event-&lt;slug&gt;-admins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of one event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12280" y="297180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3E6B4F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903720" y="2971800"/>
            <a:ext cx="384048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event-&lt;slug&gt;-volunteers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operations on one event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291840" y="3749040"/>
            <a:ext cx="0" cy="365760"/>
          </a:xfrm>
          <a:prstGeom prst="line">
            <a:avLst/>
          </a:prstGeom>
          <a:noFill/>
          <a:ln w="22225">
            <a:solidFill>
              <a:srgbClr val="4A403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823960" y="3749040"/>
            <a:ext cx="0" cy="365760"/>
          </a:xfrm>
          <a:prstGeom prst="line">
            <a:avLst/>
          </a:prstGeom>
          <a:noFill/>
          <a:ln w="22225">
            <a:solidFill>
              <a:srgbClr val="4A403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51560" y="4251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CAN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4553712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■"/>
            </a:pPr>
            <a:r>
              <a:rPr lang="en-US" sz="11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event config &amp; kit types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■"/>
            </a:pPr>
            <a:r>
              <a:rPr lang="en-US" sz="11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team (add/remove admins &amp; volunteers)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■"/>
            </a:pPr>
            <a:r>
              <a:rPr lang="en-US" sz="11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edit and close public forms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■"/>
            </a:pPr>
            <a:r>
              <a:rPr lang="en-US" sz="11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registrations, reset event state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4114800"/>
            <a:ext cx="4937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42519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E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CAN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4553712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■"/>
            </a:pPr>
            <a:r>
              <a:rPr lang="en-US" sz="11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check in participants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■"/>
            </a:pPr>
            <a:r>
              <a:rPr lang="en-US" sz="11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out kits, add walk-in registrations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■"/>
            </a:pPr>
            <a:r>
              <a:rPr lang="en-US" sz="11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/ flag payments and raise issues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100"/>
              </a:spcAft>
              <a:buSzPct val="100000"/>
              <a:buChar char="■"/>
            </a:pPr>
            <a:r>
              <a:rPr lang="en-US" sz="11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dashboard &amp; reports (read-only admin pages)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85032" y="1627632"/>
            <a:ext cx="4846320" cy="420624"/>
          </a:xfrm>
          <a:prstGeom prst="roundRect">
            <a:avLst>
              <a:gd name="adj" fmla="val 17391"/>
            </a:avLst>
          </a:prstGeom>
          <a:solidFill>
            <a:srgbClr val="D4A01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776472" y="1627632"/>
            <a:ext cx="466344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7A1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event-creators group  →  can create new events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67665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 In &amp; Event Workspace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088636" cy="3418141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5088636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9504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49504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49504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8" name="Image 0" descr="C:\Users\Harik\AppData\Local\Temp\claude\d--Projects-Desikalakr-Event\2fbbbdf7-5211-49cb-ac8f-894539beb076\scratchpad\shots\01-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655064"/>
            <a:ext cx="5088636" cy="318039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4899469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Nextcloud-backed sign-in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7356" y="1417320"/>
            <a:ext cx="5088636" cy="3418141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77356" y="1417320"/>
            <a:ext cx="5088636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12" name="Shape 9"/>
          <p:cNvSpPr/>
          <p:nvPr/>
        </p:nvSpPr>
        <p:spPr>
          <a:xfrm>
            <a:off x="6368796" y="149504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5100" y="149504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Shape 11"/>
          <p:cNvSpPr/>
          <p:nvPr/>
        </p:nvSpPr>
        <p:spPr>
          <a:xfrm>
            <a:off x="6661404" y="149504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15" name="Image 1" descr="C:\Users\Harik\AppData\Local\Temp\claude\d--Projects-Desikalakr-Event\2fbbbdf7-5211-49cb-ac8f-894539beb076\scratchpad\shots\04-event-picker-with-even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7356" y="1655064"/>
            <a:ext cx="5088636" cy="318039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277356" y="4899469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or create an event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67665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Control Room Dashboard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712568" y="1371600"/>
            <a:ext cx="6766560" cy="4466844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12568" y="1371600"/>
            <a:ext cx="6766560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5" name="Shape 3"/>
          <p:cNvSpPr/>
          <p:nvPr/>
        </p:nvSpPr>
        <p:spPr>
          <a:xfrm>
            <a:off x="2804008" y="144932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2950312" y="144932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Shape 5"/>
          <p:cNvSpPr/>
          <p:nvPr/>
        </p:nvSpPr>
        <p:spPr>
          <a:xfrm>
            <a:off x="3096616" y="144932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8" name="Image 0" descr="C:\Users\Harik\AppData\Local\Temp\claude\d--Projects-Desikalakr-Event\2fbbbdf7-5211-49cb-ac8f-894539beb076\scratchpad\shots\10-dashboard-populat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12568" y="1609344"/>
            <a:ext cx="6766560" cy="42291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712568" y="59024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Registrations, check-ins, kits and revenue — updated live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67665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 Desk &amp; Participant Directory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088636" cy="3418141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5088636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9504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49504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49504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8" name="Image 0" descr="C:\Users\Harik\AppData\Local\Temp\claude\d--Projects-Desikalakr-Event\2fbbbdf7-5211-49cb-ac8f-894539beb076\scratchpad\shots\12-check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655064"/>
            <a:ext cx="5088636" cy="318039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4899469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phone or email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7356" y="1417320"/>
            <a:ext cx="5088636" cy="3418141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77356" y="1417320"/>
            <a:ext cx="5088636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12" name="Shape 9"/>
          <p:cNvSpPr/>
          <p:nvPr/>
        </p:nvSpPr>
        <p:spPr>
          <a:xfrm>
            <a:off x="6368796" y="149504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5100" y="149504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Shape 11"/>
          <p:cNvSpPr/>
          <p:nvPr/>
        </p:nvSpPr>
        <p:spPr>
          <a:xfrm>
            <a:off x="6661404" y="149504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15" name="Image 1" descr="C:\Users\Harik\AppData\Local\Temp\claude\d--Projects-Desikalakr-Event\2fbbbdf7-5211-49cb-ac8f-894539beb076\scratchpad\shots\11-participant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7356" y="1655064"/>
            <a:ext cx="5088636" cy="318039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277356" y="4899469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participant list with status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67665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 Manager &amp; Payment Verification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088636" cy="3418141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5088636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9504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49504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49504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8" name="Image 0" descr="C:\Users\Harik\AppData\Local\Temp\claude\d--Projects-Desikalakr-Event\2fbbbdf7-5211-49cb-ac8f-894539beb076\scratchpad\shots\13-kit-manage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655064"/>
            <a:ext cx="5088636" cy="318039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4899469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kit types, price &amp; color per event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7356" y="1417320"/>
            <a:ext cx="5088636" cy="3418141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77356" y="1417320"/>
            <a:ext cx="5088636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12" name="Shape 9"/>
          <p:cNvSpPr/>
          <p:nvPr/>
        </p:nvSpPr>
        <p:spPr>
          <a:xfrm>
            <a:off x="6368796" y="149504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5100" y="149504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Shape 11"/>
          <p:cNvSpPr/>
          <p:nvPr/>
        </p:nvSpPr>
        <p:spPr>
          <a:xfrm>
            <a:off x="6661404" y="149504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15" name="Image 1" descr="C:\Users\Harik\AppData\Local\Temp\claude\d--Projects-Desikalakr-Event\2fbbbdf7-5211-49cb-ac8f-894539beb076\scratchpad\shots\14-payment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7356" y="1655064"/>
            <a:ext cx="5088636" cy="318039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277356" y="4899469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Verify, flag or hold UPI / cash payments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67665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Smart Insights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712568" y="1371600"/>
            <a:ext cx="6766560" cy="4466844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12568" y="1371600"/>
            <a:ext cx="6766560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5" name="Shape 3"/>
          <p:cNvSpPr/>
          <p:nvPr/>
        </p:nvSpPr>
        <p:spPr>
          <a:xfrm>
            <a:off x="2804008" y="144932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2950312" y="144932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Shape 5"/>
          <p:cNvSpPr/>
          <p:nvPr/>
        </p:nvSpPr>
        <p:spPr>
          <a:xfrm>
            <a:off x="3096616" y="144932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8" name="Image 0" descr="C:\Users\Harik\AppData\Local\Temp\claude\d--Projects-Desikalakr-Event\2fbbbdf7-5211-49cb-ac8f-894539beb076\scratchpad\shots\16-repor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12568" y="1609344"/>
            <a:ext cx="6766560" cy="42291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712568" y="59024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post-event summary &amp; insights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67665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Builder &amp; Public Registration Link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088636" cy="3418141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417320"/>
            <a:ext cx="5088636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9504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1060704" y="149504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Shape 5"/>
          <p:cNvSpPr/>
          <p:nvPr/>
        </p:nvSpPr>
        <p:spPr>
          <a:xfrm>
            <a:off x="1207008" y="149504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8" name="Image 0" descr="C:\Users\Harik\AppData\Local\Temp\claude\d--Projects-Desikalakr-Event\2fbbbdf7-5211-49cb-ac8f-894539beb076\scratchpad\shots\17-form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2960" y="1655064"/>
            <a:ext cx="5088636" cy="318039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4899469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build &amp; publish forms per event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77356" y="1417320"/>
            <a:ext cx="5088636" cy="3418141"/>
          </a:xfrm>
          <a:prstGeom prst="roundRect">
            <a:avLst>
              <a:gd name="adj" fmla="val 1338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277356" y="1417320"/>
            <a:ext cx="5088636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12" name="Shape 9"/>
          <p:cNvSpPr/>
          <p:nvPr/>
        </p:nvSpPr>
        <p:spPr>
          <a:xfrm>
            <a:off x="6368796" y="149504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Shape 10"/>
          <p:cNvSpPr/>
          <p:nvPr/>
        </p:nvSpPr>
        <p:spPr>
          <a:xfrm>
            <a:off x="6515100" y="149504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4" name="Shape 11"/>
          <p:cNvSpPr/>
          <p:nvPr/>
        </p:nvSpPr>
        <p:spPr>
          <a:xfrm>
            <a:off x="6661404" y="149504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15" name="Image 1" descr="C:\Users\Harik\AppData\Local\Temp\claude\d--Projects-Desikalakr-Event\2fbbbdf7-5211-49cb-ac8f-894539beb076\scratchpad\shots\19-public-form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77356" y="1655064"/>
            <a:ext cx="5088636" cy="3180397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277356" y="4899469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fill the public link — no login needed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>
            <a:spLocks noGrp="1"/>
          </p:cNvSpPr>
          <p:nvPr>
            <p:ph type="title" idx="103" hasCustomPrompt="1"/>
          </p:nvPr>
        </p:nvSpPr>
        <p:spPr>
          <a:xfrm>
            <a:off x="822960" y="676656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Admin: Kit Types &amp; Team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2712568" y="1371600"/>
            <a:ext cx="6766560" cy="4466844"/>
          </a:xfrm>
          <a:prstGeom prst="roundRect">
            <a:avLst>
              <a:gd name="adj" fmla="val 1024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114300" dist="38100" dir="5400000" algn="bl" rotWithShape="0">
              <a:srgbClr val="201112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712568" y="1371600"/>
            <a:ext cx="6766560" cy="237744"/>
          </a:xfrm>
          <a:prstGeom prst="rect">
            <a:avLst/>
          </a:prstGeom>
          <a:solidFill>
            <a:srgbClr val="ECE1D2"/>
          </a:solidFill>
          <a:ln/>
        </p:spPr>
      </p:sp>
      <p:sp>
        <p:nvSpPr>
          <p:cNvPr id="5" name="Shape 3"/>
          <p:cNvSpPr/>
          <p:nvPr/>
        </p:nvSpPr>
        <p:spPr>
          <a:xfrm>
            <a:off x="2804008" y="1449324"/>
            <a:ext cx="82296" cy="8229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Shape 4"/>
          <p:cNvSpPr/>
          <p:nvPr/>
        </p:nvSpPr>
        <p:spPr>
          <a:xfrm>
            <a:off x="2950312" y="1449324"/>
            <a:ext cx="82296" cy="82296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7" name="Shape 5"/>
          <p:cNvSpPr/>
          <p:nvPr/>
        </p:nvSpPr>
        <p:spPr>
          <a:xfrm>
            <a:off x="3096616" y="1449324"/>
            <a:ext cx="82296" cy="82296"/>
          </a:xfrm>
          <a:prstGeom prst="ellipse">
            <a:avLst/>
          </a:prstGeom>
          <a:solidFill>
            <a:srgbClr val="3E6B4F"/>
          </a:solidFill>
          <a:ln/>
        </p:spPr>
      </p:sp>
      <p:pic>
        <p:nvPicPr>
          <p:cNvPr id="8" name="Image 0" descr="C:\Users\Harik\AppData\Local\Temp\claude\d--Projects-Desikalakr-Event\2fbbbdf7-5211-49cb-ac8f-894539beb076\scratchpad\shots\18-event-adm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12568" y="1609344"/>
            <a:ext cx="6766560" cy="42291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712568" y="59024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configuration, CSV import and team management in one page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RELIABILITY</a:t>
            </a:r>
            <a:endParaRPr lang="en-US" sz="115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Event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24128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7A14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24128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38658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JWT-based sessions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2752344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12-hour signed tokens; every request re-checks Nextcloud group membership (30s cache).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25696" y="169164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26864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6864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38658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 locking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752344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ETag / If-Match on every state write — no lost check-ins under concurrent load.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28432" y="169164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745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3E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238658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Scoped roles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752344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vs Volunteer enforced per-event on every route via eventAccess() middleware.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" y="374904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24128" y="3931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24128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444398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24128" y="4809744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Slugs, kit keys, phone numbers and form answers are all validated server-side.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25696" y="374904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3931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444398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bulk import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4809744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XLSX import never overwrites existing registrations; duplicates are skipped.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028432" y="3749040"/>
            <a:ext cx="336499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93192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A403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0" y="3931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0" y="4443984"/>
            <a:ext cx="2962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809744"/>
            <a:ext cx="29626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test suite covers auth, roles, check-in flow and the public forms API.</a:t>
            </a:r>
            <a:endParaRPr lang="en-US" sz="10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150" dirty="0"/>
          </a:p>
        </p:txBody>
      </p:sp>
      <p:sp>
        <p:nvSpPr>
          <p:cNvPr id="3" name="Text 2"/>
          <p:cNvSpPr>
            <a:spLocks noGrp="1"/>
          </p:cNvSpPr>
          <p:nvPr>
            <p:ph type="title" idx="102" hasCustomPrompt="1"/>
          </p:nvPr>
        </p:nvSpPr>
        <p:spPr>
          <a:xfrm>
            <a:off x="822960" y="713232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F4E9DD"/>
          </a:solidFill>
          <a:ln/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2402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Control Room replaces scattered spreadsheets and chat threads with one live, role-aware dashboard. By building entirely on Nextcloud's own files and identity system, it stays infrastructure-light — four Docker containers, zero extra database — while safely supporting many simultaneous events and volunteers.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3434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20000"/>
              </a:lnSpc>
              <a:spcAft>
                <a:spcPts val="1100"/>
              </a:spcAft>
              <a:buSzPct val="100000"/>
              <a:buChar char="■"/>
            </a:pPr>
            <a:r>
              <a:rPr lang="en-US" sz="12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check-in queues on event day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SzPct val="100000"/>
              <a:buChar char="■"/>
            </a:pPr>
            <a:r>
              <a:rPr lang="en-US" sz="12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payments, fewer disputes</a:t>
            </a:r>
            <a:endParaRPr lang="en-US" sz="1250" dirty="0"/>
          </a:p>
          <a:p>
            <a:pPr marL="228600" indent="-228600">
              <a:lnSpc>
                <a:spcPct val="120000"/>
              </a:lnSpc>
              <a:spcAft>
                <a:spcPts val="1100"/>
              </a:spcAft>
              <a:buSzPct val="100000"/>
              <a:buChar char="■"/>
            </a:pPr>
            <a:r>
              <a:rPr lang="en-US" sz="125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reused fest after fest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148072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D7C8"/>
            </a:solidFill>
            <a:prstDash val="solid"/>
          </a:ln>
          <a:effectLst>
            <a:outerShdw blurRad="76200" dist="25400" dir="5400000" algn="bl" rotWithShape="0">
              <a:srgbClr val="201112">
                <a:alpha val="16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1874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40280"/>
            <a:ext cx="46634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■"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QR-code based check-in and kit handout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■"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UPI payment-gateway integration (auto-verification)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■"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/ SMS notifications to participants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■"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analytics page per event for sponsors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■"/>
            </a:pPr>
            <a:r>
              <a:rPr lang="en-US" sz="1300" dirty="0">
                <a:solidFill>
                  <a:srgbClr val="2011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desk mode for poor-connectivity venues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288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50">
                <a:solidFill>
                  <a:srgbClr val="6E7B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oon Scholar">
  <a:themeElements>
    <a:clrScheme name="Maroon Scholar">
      <a:dk1>
        <a:srgbClr val="201112"/>
      </a:dk1>
      <a:lt1>
        <a:srgbClr val="FFFFFF"/>
      </a:lt1>
      <a:dk2>
        <a:srgbClr val="7A1430"/>
      </a:dk2>
      <a:lt2>
        <a:srgbClr val="F4E9DD"/>
      </a:lt2>
      <a:accent1>
        <a:srgbClr val="D4A017"/>
      </a:accent1>
      <a:accent2>
        <a:srgbClr val="2F3C7E"/>
      </a:accent2>
      <a:accent3>
        <a:srgbClr val="3E6B4F"/>
      </a:accent3>
      <a:accent4>
        <a:srgbClr val="B85042"/>
      </a:accent4>
      <a:accent5>
        <a:srgbClr val="4A4036"/>
      </a:accent5>
      <a:accent6>
        <a:srgbClr val="6E7B8B"/>
      </a:accent6>
      <a:hlink>
        <a:srgbClr val="D4A017"/>
      </a:hlink>
      <a:folHlink>
        <a:srgbClr val="9C6B14"/>
      </a:folHlink>
    </a:clrScheme>
    <a:fontScheme name="Maroon Schola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1347</Words>
  <Application>Microsoft Office PowerPoint</Application>
  <PresentationFormat>Widescreen</PresentationFormat>
  <Paragraphs>269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Maroon Scholar</vt:lpstr>
      <vt:lpstr>Event Control Room</vt:lpstr>
      <vt:lpstr>Agenda</vt:lpstr>
      <vt:lpstr>The Problem with Running Campus Events</vt:lpstr>
      <vt:lpstr>Objectives</vt:lpstr>
      <vt:lpstr>Key Features</vt:lpstr>
      <vt:lpstr>System Architecture</vt:lpstr>
      <vt:lpstr>Technology Stack</vt:lpstr>
      <vt:lpstr>Nextcloud as the Only Datastore</vt:lpstr>
      <vt:lpstr>Role-Based Access Control</vt:lpstr>
      <vt:lpstr>Sign In &amp; Event Workspace</vt:lpstr>
      <vt:lpstr>Live Control Room Dashboard</vt:lpstr>
      <vt:lpstr>Check-In Desk &amp; Participant Directory</vt:lpstr>
      <vt:lpstr>Kit Manager &amp; Payment Verification</vt:lpstr>
      <vt:lpstr>Reports &amp; Smart Insights</vt:lpstr>
      <vt:lpstr>Form Builder &amp; Public Registration Link</vt:lpstr>
      <vt:lpstr>Event Admin: Kit Types &amp; Team</vt:lpstr>
      <vt:lpstr>Built to Survive Event Day</vt:lpstr>
      <vt:lpstr>Conclusion &amp; Future Scope</vt:lpstr>
      <vt:lpstr>Thank You</vt:lpstr>
    </vt:vector>
  </TitlesOfParts>
  <Company>NMIMS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Harikrishna Panchal</cp:lastModifiedBy>
  <cp:revision>4</cp:revision>
  <dcterms:created xsi:type="dcterms:W3CDTF">2026-10-23T20:21:49Z</dcterms:created>
  <dcterms:modified xsi:type="dcterms:W3CDTF">2026-10-24T07:04:14Z</dcterms:modified>
</cp:coreProperties>
</file>